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42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420"/>
                </a:solidFill>
                <a:latin typeface="Calibri"/>
              </a:rPr>
              <a:t>Average onion price by month (₹/quintal)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State average price</c:v>
                </c:pt>
              </c:strCache>
            </c:strRef>
          </c:tx>
          <c:spPr>
            <a:solidFill>
              <a:srgbClr val="C1440E"/>
            </a:solidFill>
            <a:ln w="38100" cap="flat">
              <a:solidFill>
                <a:srgbClr val="C1440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1440E"/>
              </a:solidFill>
              <a:ln w="9525" cap="flat">
                <a:solidFill>
                  <a:srgbClr val="C1440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1726</c:v>
                </c:pt>
                <c:pt idx="1">
                  <c:v>1612</c:v>
                </c:pt>
                <c:pt idx="2">
                  <c:v>1289</c:v>
                </c:pt>
                <c:pt idx="3">
                  <c:v>1008</c:v>
                </c:pt>
                <c:pt idx="4">
                  <c:v>992</c:v>
                </c:pt>
                <c:pt idx="5">
                  <c:v>1666</c:v>
                </c:pt>
                <c:pt idx="6">
                  <c:v>1921</c:v>
                </c:pt>
                <c:pt idx="7">
                  <c:v>1231</c:v>
                </c:pt>
                <c:pt idx="8">
                  <c:v>2442</c:v>
                </c:pt>
                <c:pt idx="9">
                  <c:v>2353</c:v>
                </c:pt>
                <c:pt idx="10">
                  <c:v>2495</c:v>
                </c:pt>
                <c:pt idx="11">
                  <c:v>2123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800"/>
        </c:scaling>
        <c:delete val="0"/>
        <c:axPos val="l"/>
        <c:majorGridlines>
          <c:spPr>
            <a:ln w="12700" cap="flat">
              <a:solidFill>
                <a:srgbClr val="E7E1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42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420"/>
                </a:solidFill>
                <a:latin typeface="Calibri"/>
              </a:rPr>
              <a:t>Average price by market (₹/quintal)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5B17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B14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Chh. Sambhajinagar</c:v>
                  </c:pt>
                  <c:pt idx="1">
                    <c:v>Pune(Moshi)</c:v>
                  </c:pt>
                  <c:pt idx="2">
                    <c:v>Kolhapur</c:v>
                  </c:pt>
                  <c:pt idx="3">
                    <c:v>Bhusaval</c:v>
                  </c:pt>
                  <c:pt idx="4">
                    <c:v>Mangal Wedha</c:v>
                  </c:pt>
                  <c:pt idx="5">
                    <c:v>Pune(Manjri)</c:v>
                  </c:pt>
                  <c:pt idx="6">
                    <c:v>Pune</c:v>
                  </c:pt>
                  <c:pt idx="7">
                    <c:v>Nasik</c:v>
                  </c:pt>
                  <c:pt idx="8">
                    <c:v>Satara</c:v>
                  </c:pt>
                  <c:pt idx="9">
                    <c:v>Pune(Pimpri)</c:v>
                  </c:pt>
                  <c:pt idx="10">
                    <c:v>Lasalgaon(Vinchur)</c:v>
                  </c:pt>
                  <c:pt idx="11">
                    <c:v>Lasalgaon</c:v>
                  </c:pt>
                  <c:pt idx="12">
                    <c:v>Pimpalgaon</c:v>
                  </c:pt>
                  <c:pt idx="13">
                    <c:v>Lasalgaon(Niphad)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1273</c:v>
                </c:pt>
                <c:pt idx="1">
                  <c:v>1394</c:v>
                </c:pt>
                <c:pt idx="2">
                  <c:v>1528</c:v>
                </c:pt>
                <c:pt idx="3">
                  <c:v>1582</c:v>
                </c:pt>
                <c:pt idx="4">
                  <c:v>1723</c:v>
                </c:pt>
                <c:pt idx="5">
                  <c:v>1744</c:v>
                </c:pt>
                <c:pt idx="6">
                  <c:v>1745</c:v>
                </c:pt>
                <c:pt idx="7">
                  <c:v>1768</c:v>
                </c:pt>
                <c:pt idx="8">
                  <c:v>1847</c:v>
                </c:pt>
                <c:pt idx="9">
                  <c:v>1928</c:v>
                </c:pt>
                <c:pt idx="10">
                  <c:v>1963</c:v>
                </c:pt>
                <c:pt idx="11">
                  <c:v>1993</c:v>
                </c:pt>
                <c:pt idx="12">
                  <c:v>1999</c:v>
                </c:pt>
                <c:pt idx="13">
                  <c:v>2029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B14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C144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4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1440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0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0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0A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Red</c:v>
                  </c:pt>
                  <c:pt idx="1">
                    <c:v>Other</c:v>
                  </c:pt>
                  <c:pt idx="2">
                    <c:v>Local</c:v>
                  </c:pt>
                  <c:pt idx="3">
                    <c:v>Unhali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2231</c:v>
                </c:pt>
                <c:pt idx="1">
                  <c:v>1711</c:v>
                </c:pt>
                <c:pt idx="2">
                  <c:v>1701</c:v>
                </c:pt>
                <c:pt idx="3">
                  <c:v>1328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4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B1420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B1420"/>
                </a:solidFill>
                <a:latin typeface="Calibri"/>
              </a:rPr>
              <a:t>Forecast error — lower is better (₹/qtl MAE)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error</c:v>
                </c:pt>
              </c:strCache>
            </c:strRef>
          </c:tx>
          <c:spPr>
            <a:solidFill>
              <a:srgbClr val="9AA0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4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0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0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0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855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Persistence</c:v>
                  </c:pt>
                  <c:pt idx="1">
                    <c:v>Seasonal-naive</c:v>
                  </c:pt>
                  <c:pt idx="2">
                    <c:v>LightGBM</c:v>
                  </c:pt>
                  <c:pt idx="3">
                    <c:v>Ensemble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169</c:v>
                </c:pt>
                <c:pt idx="1">
                  <c:v>1044</c:v>
                </c:pt>
                <c:pt idx="2">
                  <c:v>199</c:v>
                </c:pt>
                <c:pt idx="3">
                  <c:v>168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4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1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Team Mangos. Onion Market Intelligence turns two years of real mandi price data into simple money-focused advice: when to sell, where, which variety, and next month’s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swing 2.5x a year. Selling at the wrong time or place costs real money. Today advisors guess — we replace the guess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split the profit problem into levers — when, where, which — then add a forecast and a profit calculator, and stay honest about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Agmarknet data — 32,000 records, 111 markets, 24 months. Real data is messy: names in headers, wrong units, a duplicate month, a missing month. We handled and documented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does the data work; SQLite/SQL store and query; statsmodels explains; LightGBM forecasts; Chart.js and Power BI visualize; pytest and Git keep it reliable. One command rebuilds everything in ~20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stages, each feeding the next. Everything is configuration-driven, so the same pipeline works for another crop by editing one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peak Sep–Nov and bottom in Apr–May — a ₹1,503 swing. Timing is the biggest lever, about twice the market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Nashik belt pays most — about ₹756 more than the cheapest market. Red onion earns about 31% more than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 within ~14% error. Honestly, LightGBM only ties a naive baseline, so we blend them and add a range. It cannot predict shocks, and we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standout feature. Farmer enters location, quantity, variety. We compute distance to every mandi, subtract transport, commission and labour, and rank by take-home. A far high-price mandi can lose to a nearby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honest mistakes: a fake finding from sample data, a tonnes-vs-quintals trap, messy duplicate names, and an ML model that lost to a naive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mistake, a real fix: reported the true finding, converted units at source with a test, canonicalised and de-duplicated names, and re-engineered the forecaster to match the baseline and add a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upfront: only two years with a missing month; no weather/policy data so shocks are unpredictable; the forecast is monthly; and the calculator uses adjustable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conclude: sell Sep–Nov, prefer the Nashik belt, grow Red onion, and use the profit calculator to net out transport. Next step is rainfall data. Thank you — Team Mangos.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377440"/>
            <a:ext cx="5486400" cy="5486400"/>
          </a:xfrm>
          <a:prstGeom prst="ellipse">
            <a:avLst/>
          </a:prstGeom>
          <a:solidFill>
            <a:srgbClr val="5B1746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206240"/>
            <a:ext cx="5029200" cy="5029200"/>
          </a:xfrm>
          <a:prstGeom prst="ellipse">
            <a:avLst/>
          </a:prstGeom>
          <a:solidFill>
            <a:srgbClr val="3D1030"/>
          </a:solidFill>
          <a:ln/>
        </p:spPr>
      </p:sp>
      <p:sp>
        <p:nvSpPr>
          <p:cNvPr id="4" name="Shape 2"/>
          <p:cNvSpPr/>
          <p:nvPr/>
        </p:nvSpPr>
        <p:spPr>
          <a:xfrm>
            <a:off x="5358384" y="777240"/>
            <a:ext cx="1463040" cy="1463040"/>
          </a:xfrm>
          <a:prstGeom prst="ellipse">
            <a:avLst/>
          </a:prstGeom>
          <a:solidFill>
            <a:srgbClr val="5B1746"/>
          </a:solidFill>
          <a:ln w="25400">
            <a:solidFill>
              <a:srgbClr val="F0789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5584" y="12344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0604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ONION MARKET INTELLIGENCE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4290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real government price data into maximum profit for onion farmers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691640" y="42062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44113A"/>
          </a:solidFill>
          <a:ln w="9525">
            <a:solidFill>
              <a:srgbClr val="F0789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91640" y="42062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520440" y="42062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44113A"/>
          </a:solidFill>
          <a:ln w="9525">
            <a:solidFill>
              <a:srgbClr val="F0789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20440" y="42062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49240" y="42062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44113A"/>
          </a:solidFill>
          <a:ln w="9525">
            <a:solidFill>
              <a:srgbClr val="F0789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49240" y="42062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178040" y="42062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44113A"/>
          </a:solidFill>
          <a:ln w="9525">
            <a:solidFill>
              <a:srgbClr val="F0789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78040" y="42062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006840" y="42062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44113A"/>
          </a:solidFill>
          <a:ln w="9525">
            <a:solidFill>
              <a:srgbClr val="F0789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42062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Calculator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14400" y="58978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MANGOS</a:t>
            </a:r>
            <a:pPr algn="ctr" indent="0" marL="0">
              <a:buNone/>
            </a:pPr>
            <a:r>
              <a:rPr lang="en-US" sz="1200" dirty="0">
                <a:solidFill>
                  <a:srgbClr val="C9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IIT Mandi CCE — AI &amp; Data Science Capstone    ·    Data: Agmarknet, Govt. of India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good crop can still lose money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is one of India’s most price-volatile crops. The same sack can sell for ₹1,000 one month and ₹2,500 a few months later. Farmers lose income not to bad farming — but to selling at the wrong time, place, or with the wrong variety.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971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2.5×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6850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swing in a single year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42816" y="269748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71416" y="2971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17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₹1,000 → ₹2,500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471416" y="36850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onion, months apart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36992" y="269748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65592" y="2971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9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Guesswork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165592" y="36850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most farmers decide today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BEEE7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572000"/>
            <a:ext cx="10424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every field agent gets:   </a:t>
            </a:r>
            <a:pPr indent="0" marL="0">
              <a:buNone/>
            </a:pPr>
            <a:r>
              <a:rPr lang="en-US" sz="1600" i="1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should I sell, in which mandi, and which onion earns the most?”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tool, five money answers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37944"/>
            <a:ext cx="658368" cy="65836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0253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282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sell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45920" y="209397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months — worth ₹1,503/quintal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9904" y="150876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45936" y="1837944"/>
            <a:ext cx="658368" cy="65836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00253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87184" y="17282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sell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87184" y="209397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mandi — up to ₹756/quintal more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2990088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319272"/>
            <a:ext cx="658368" cy="65836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48386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2095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variety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45920" y="3575304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onion earns ~31% more than Local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89904" y="2990088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45936" y="3319272"/>
            <a:ext cx="658368" cy="65836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48386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87184" y="32095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MONTH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87184" y="3575304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Per-market price forecast, with a range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471416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800600"/>
            <a:ext cx="658368" cy="65836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965192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46908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CALCULATOR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645920" y="505663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mandi after transport, commission &amp; labour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089904" y="4471416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45936" y="4800600"/>
            <a:ext cx="658368" cy="65836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965192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87184" y="46908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BY DESIGN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187184" y="505663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where the model is weak, not just strong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government data, cleaned end-to-end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8775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105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31,930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price 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19272" y="1554480"/>
            <a:ext cx="258775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56432" y="18105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17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 → 14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56432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loaded → curated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9904" y="1554480"/>
            <a:ext cx="258775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27064" y="18105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27064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(Jun ’24–Jun ’26)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60536" y="1554480"/>
            <a:ext cx="258775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97696" y="18105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9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997696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varieties tracked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548640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scope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88620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(Directorate of Marketing &amp; Inspection) — 25 monthly “Date-Wise Prices” CSV exports for Onion, Maharashtra. Modal price in ₹/quintal; arrivals converted tonnes→quintals.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53912" y="3291840"/>
            <a:ext cx="5486400" cy="2697480"/>
          </a:xfrm>
          <a:prstGeom prst="roundRect">
            <a:avLst>
              <a:gd name="adj" fmla="val 3390"/>
            </a:avLst>
          </a:prstGeom>
          <a:solidFill>
            <a:srgbClr val="FBEEE7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in real ways — all handled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2" y="3950208"/>
            <a:ext cx="164592" cy="16459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720840" y="389534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names sat in header rows, not a column</a:t>
            </a:r>
            <a:endParaRPr lang="en-US" sz="12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4407408"/>
            <a:ext cx="164592" cy="16459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720840" y="435254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 in tonnes, prices per quintal (10× trap)</a:t>
            </a:r>
            <a:endParaRPr lang="en-US" sz="12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864608"/>
            <a:ext cx="164592" cy="16459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20840" y="480974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downloaded twice (duplicate rows)</a:t>
            </a:r>
            <a:endParaRPr lang="en-US" sz="12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5321808"/>
            <a:ext cx="164592" cy="16459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20840" y="526694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2024 missing from the source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cleaning decision is logged and reproducible — a data-quality note and reconciliation log accompany the project.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production-grade tech stack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87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19656"/>
            <a:ext cx="566928" cy="56692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96138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236829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for all data work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19272" y="1600200"/>
            <a:ext cx="2587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819656"/>
            <a:ext cx="566928" cy="56692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196138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87952" y="17830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20440" y="236829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reshape &amp; compute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9904" y="1600200"/>
            <a:ext cx="2587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91072" y="1819656"/>
            <a:ext cx="566928" cy="56692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804" y="196138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58584" y="17830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SQL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91072" y="236829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data, ask it questions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860536" y="1600200"/>
            <a:ext cx="2587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61704" y="1819656"/>
            <a:ext cx="566928" cy="56692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3436" y="196138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29216" y="17830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061704" y="236829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&amp; market effects in ₹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063240"/>
            <a:ext cx="2587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3282696"/>
            <a:ext cx="566928" cy="56692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3424428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324612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· sklearn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49808" y="383133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forecaster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19272" y="3063240"/>
            <a:ext cx="2587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20440" y="3282696"/>
            <a:ext cx="566928" cy="56692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2172" y="3424428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187952" y="324612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· Web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520440" y="383133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089904" y="3063240"/>
            <a:ext cx="2587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291072" y="3282696"/>
            <a:ext cx="566928" cy="56692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2804" y="3424428"/>
            <a:ext cx="283464" cy="28346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958584" y="324612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291072" y="383133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dashboard, same data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860536" y="3063240"/>
            <a:ext cx="2587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061704" y="3282696"/>
            <a:ext cx="566928" cy="56692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424428"/>
            <a:ext cx="283464" cy="28346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729216" y="324612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Git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9061704" y="383133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tests · version control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548640" y="452628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2E0B24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45" name="Text 35"/>
          <p:cNvSpPr/>
          <p:nvPr/>
        </p:nvSpPr>
        <p:spPr>
          <a:xfrm>
            <a:off x="868680" y="452628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runs it all.  </a:t>
            </a:r>
            <a:pPr indent="0" marL="0">
              <a:buNone/>
            </a:pPr>
            <a:r>
              <a:rPr lang="en-US" sz="1500" dirty="0">
                <a:solidFill>
                  <a:srgbClr val="E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load → clean → SQL → EDA → model → forecast → dashboard — reproducible end-to-end in ~20 seconds.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files to farmer advice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73352" cy="228600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52144" y="2322576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/>
          <p:nvPr/>
        </p:nvSpPr>
        <p:spPr>
          <a:xfrm>
            <a:off x="1152144" y="2322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9443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383280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712464"/>
            <a:ext cx="1490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CSVs → clean table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176272" y="29718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404872" y="2103120"/>
            <a:ext cx="1673352" cy="228600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08376" y="2322576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3" name="Text 10"/>
          <p:cNvSpPr/>
          <p:nvPr/>
        </p:nvSpPr>
        <p:spPr>
          <a:xfrm>
            <a:off x="3008376" y="2322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816" y="294436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96312" y="3383280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496312" y="3712464"/>
            <a:ext cx="1490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· gaps · units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032504" y="29718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4261104" y="2103120"/>
            <a:ext cx="1673352" cy="228600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64608" y="2322576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0" name="Text 16"/>
          <p:cNvSpPr/>
          <p:nvPr/>
        </p:nvSpPr>
        <p:spPr>
          <a:xfrm>
            <a:off x="4864608" y="2322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944368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352544" y="3383280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352544" y="3712464"/>
            <a:ext cx="1490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charts, one claim each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5888736" y="29718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6117336" y="2103120"/>
            <a:ext cx="1673352" cy="228600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720840" y="2322576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7" name="Text 22"/>
          <p:cNvSpPr/>
          <p:nvPr/>
        </p:nvSpPr>
        <p:spPr>
          <a:xfrm>
            <a:off x="6720840" y="2322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944368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08776" y="3383280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208776" y="3712464"/>
            <a:ext cx="1490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&amp; market effects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7744968" y="29718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7973568" y="2103120"/>
            <a:ext cx="1673352" cy="228600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577072" y="2322576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34" name="Text 28"/>
          <p:cNvSpPr/>
          <p:nvPr/>
        </p:nvSpPr>
        <p:spPr>
          <a:xfrm>
            <a:off x="8577072" y="2322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2944368"/>
            <a:ext cx="292608" cy="29260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065008" y="3383280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8065008" y="3712464"/>
            <a:ext cx="1490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persistence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9601200" y="29718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2"/>
          <p:cNvSpPr/>
          <p:nvPr/>
        </p:nvSpPr>
        <p:spPr>
          <a:xfrm>
            <a:off x="9829800" y="2103120"/>
            <a:ext cx="1673352" cy="228600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10433304" y="2322576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1" name="Text 34"/>
          <p:cNvSpPr/>
          <p:nvPr/>
        </p:nvSpPr>
        <p:spPr>
          <a:xfrm>
            <a:off x="10433304" y="2322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4744" y="2944368"/>
            <a:ext cx="292608" cy="29260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921240" y="3383280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9921240" y="3712464"/>
            <a:ext cx="1490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+ calculator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548640" y="47548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0F5F2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46" name="Text 38"/>
          <p:cNvSpPr/>
          <p:nvPr/>
        </p:nvSpPr>
        <p:spPr>
          <a:xfrm>
            <a:off x="868680" y="475488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Configuration-driven:  </a:t>
            </a:r>
            <a:pPr indent="0" marL="0">
              <a:buNone/>
            </a:pPr>
            <a:r>
              <a:rPr lang="en-US" sz="14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crop, state, markets or dates in one config file — no query or script hardcodes a value. Extensible by design.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WHEN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September–November, not April–May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5087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2E0B24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75320" y="17830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9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₹1,503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75320" y="25603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quintal — the gap between the Nov peak (₹2,495) and the May trough (₹992).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92440" y="384048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BEEE7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75320" y="4023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75320" y="438912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is the single biggest lever — worth about twice a farmer’s market choice. The peak is confirmed statistically (Nov +₹759 vs Jan, significant).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2 &amp; 3 — WHERE &amp; WHICH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Nashik belt pays most · Red earns a premium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03504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variety pays best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766560" y="1874520"/>
          <a:ext cx="48920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766560" y="4526280"/>
            <a:ext cx="4873752" cy="1554480"/>
          </a:xfrm>
          <a:prstGeom prst="roundRect">
            <a:avLst>
              <a:gd name="adj" fmla="val 5882"/>
            </a:avLst>
          </a:prstGeom>
          <a:solidFill>
            <a:srgbClr val="FBEEE7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040880" y="4526280"/>
            <a:ext cx="4389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onion ≈ +31% over Local.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crop-planning lever worth ~₹530/quintal — on top of when and where.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— NEXT MONTH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per-market forecast — and honest about it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7607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37960" y="155448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2E0B24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76656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 · best market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66560" y="2057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Pimpalgaon Baswant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766560" y="2606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₹1,788/quintal   (range ₹1,555–1,884)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37960" y="3657600"/>
            <a:ext cx="5120640" cy="2194560"/>
          </a:xfrm>
          <a:prstGeom prst="roundRect">
            <a:avLst>
              <a:gd name="adj" fmla="val 4167"/>
            </a:avLst>
          </a:prstGeom>
          <a:solidFill>
            <a:srgbClr val="FBEEE7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0" y="3840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part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66560" y="420624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ML model only ties a naive “next ≈ this month” baseline — monthly onion prices are near a random walk. Its real value is the calibrated ±range, and it cannot foresee a supply shock.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STANDOUT FEATURE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Calculator — highest price ≠ highest profit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2E0B24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 =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× qty  </a:t>
            </a:r>
            <a:pPr indent="0" marL="0">
              <a:buNone/>
            </a:pPr>
            <a:r>
              <a:rPr lang="en-US" sz="1700" dirty="0">
                <a:solidFill>
                  <a:srgbClr val="E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transport (distance × rate)  −  commission  −  labour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25877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27048" y="3200400"/>
            <a:ext cx="640080" cy="640080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068" y="33604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886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inputs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3232" y="4206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quantity &amp; variety (costs optional)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090672" y="34747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19272" y="2971800"/>
            <a:ext cx="25877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97680" y="3200400"/>
            <a:ext cx="640080" cy="640080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33604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56432" y="3886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distances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83864" y="4206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all 14 mandi coordinates → distance to each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861304" y="34747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089904" y="2971800"/>
            <a:ext cx="25877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068312" y="3200400"/>
            <a:ext cx="640080" cy="640080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332" y="336042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27064" y="3886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 every mandi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54496" y="4206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Subtracts transport, commission &amp; labour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631936" y="34747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8860536" y="2971800"/>
            <a:ext cx="25877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838944" y="3200400"/>
            <a:ext cx="640080" cy="640080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8964" y="336042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997696" y="3886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&amp; recommends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025128" y="4206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mandi that leaves the most money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0F5F2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868680" y="498348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</a:t>
            </a:r>
            <a:pPr indent="0" marL="0">
              <a:buNone/>
            </a:pPr>
            <a:r>
              <a:rPr lang="en-US" sz="13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Nashik farmer with 50 quintals of Red onion → </a:t>
            </a:r>
            <a:pPr indent="0" marL="0">
              <a:buNone/>
            </a:pPr>
            <a:r>
              <a:rPr lang="en-US" sz="13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at Pimpalgaon, ≈ ₹1.05 lakh take-home</a:t>
            </a:r>
            <a:pPr indent="0" marL="0">
              <a:buNone/>
            </a:pPr>
            <a:r>
              <a:rPr lang="en-US" sz="13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nearby high-price mandi beats a far one after transport.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GOT WRONG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Mistakes we found (and owned)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658368" cy="658368"/>
          </a:xfrm>
          <a:prstGeom prst="ellipse">
            <a:avLst/>
          </a:prstGeom>
          <a:solidFill>
            <a:srgbClr val="F7E0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9933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288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“big finding” that was fake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sample data we found a dramatic Simpson’s-paradox effect. On the REAL data it vanished (r ≈ −0.03).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9904" y="155448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45936" y="1828800"/>
            <a:ext cx="658368" cy="658368"/>
          </a:xfrm>
          <a:prstGeom prst="ellipse">
            <a:avLst/>
          </a:prstGeom>
          <a:solidFill>
            <a:srgbClr val="F7E0D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99339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87184" y="18288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units — a 10× trap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364224" y="26060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 came in tonnes, but every price is per quintal — mixing them would inflate the effect tenfold.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069080"/>
            <a:ext cx="658368" cy="658368"/>
          </a:xfrm>
          <a:prstGeom prst="ellipse">
            <a:avLst/>
          </a:prstGeom>
          <a:solidFill>
            <a:srgbClr val="F7E0D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23367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690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splitting &amp; double-counting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8463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sat in headers with varied spellings, and one month was downloaded twice.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9904" y="379476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45936" y="4069080"/>
            <a:ext cx="658368" cy="658368"/>
          </a:xfrm>
          <a:prstGeom prst="ellipse">
            <a:avLst/>
          </a:prstGeom>
          <a:solidFill>
            <a:srgbClr val="F7E0D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23367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87184" y="40690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lost to a “dumb” guess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364224" y="48463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LightGBM forecaster was beaten by a naive “next = this month” baseline.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FIXED THEM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corrected them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658368" cy="658368"/>
          </a:xfrm>
          <a:prstGeom prst="ellipse">
            <a:avLst/>
          </a:prstGeom>
          <a:solidFill>
            <a:srgbClr val="DCEFE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9933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288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the truth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on real data and reframed the story around timing, market &amp; variety — the effects that are actually real.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9904" y="155448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45936" y="1828800"/>
            <a:ext cx="658368" cy="658368"/>
          </a:xfrm>
          <a:prstGeom prst="ellipse">
            <a:avLst/>
          </a:prstGeom>
          <a:solidFill>
            <a:srgbClr val="DCEFE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99339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87184" y="18288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at the source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364224" y="26060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 are converted tonnes→quintals once at parse time, with a unit test that pins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069080"/>
            <a:ext cx="658368" cy="658368"/>
          </a:xfrm>
          <a:prstGeom prst="ellipse">
            <a:avLst/>
          </a:prstGeom>
          <a:solidFill>
            <a:srgbClr val="DCEFE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23367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690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names + dedup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8463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market names, dropped exact duplicates, gave each market a stable ID.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9904" y="379476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45936" y="4069080"/>
            <a:ext cx="658368" cy="658368"/>
          </a:xfrm>
          <a:prstGeom prst="ellipse">
            <a:avLst/>
          </a:prstGeom>
          <a:solidFill>
            <a:srgbClr val="DCEFE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23367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87184" y="40690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Differenced + ensembled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364224" y="48463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the month-over-month change and blended with persistence — now it matches the baseline AND adds a range.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is captured in the reconciliation log and the AI-workflow appendix — with a regression test where it matters.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HONEST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— stated up front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09928"/>
            <a:ext cx="640080" cy="640080"/>
          </a:xfrm>
          <a:prstGeom prst="ellipse">
            <a:avLst/>
          </a:prstGeom>
          <a:solidFill>
            <a:srgbClr val="EDE7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6994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0876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24 months of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0" y="150876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month seen ~2 times, and August 2024 is missing — the seasonal peak rests on few observations.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679192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880360"/>
            <a:ext cx="640080" cy="640080"/>
          </a:xfrm>
          <a:prstGeom prst="ellipse">
            <a:avLst/>
          </a:prstGeom>
          <a:solidFill>
            <a:srgbClr val="EDE7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0403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679192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weather / policy data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2679192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drivers of price shocks aren’t in the dataset — so no model here can foresee a spike.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49624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50792"/>
            <a:ext cx="640080" cy="640080"/>
          </a:xfrm>
          <a:prstGeom prst="ellipse">
            <a:avLst/>
          </a:prstGeom>
          <a:solidFill>
            <a:srgbClr val="EDE7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21081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849624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forecast horizon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029200" y="3849624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answer “next month, per market” — not next week, and not during an active shock.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020056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221224"/>
            <a:ext cx="640080" cy="640080"/>
          </a:xfrm>
          <a:prstGeom prst="ellipse">
            <a:avLst/>
          </a:prstGeom>
          <a:solidFill>
            <a:srgbClr val="EDE7F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5381244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020056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uses assumptions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029200" y="5020056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Transport, commission &amp; labour are user-adjustable estimates — a net figure, not a guarantee.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377440"/>
            <a:ext cx="5486400" cy="5486400"/>
          </a:xfrm>
          <a:prstGeom prst="ellipse">
            <a:avLst/>
          </a:prstGeom>
          <a:solidFill>
            <a:srgbClr val="5B1746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206240"/>
            <a:ext cx="5029200" cy="5029200"/>
          </a:xfrm>
          <a:prstGeom prst="ellipse">
            <a:avLst/>
          </a:prstGeom>
          <a:solidFill>
            <a:srgbClr val="3D103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a farmer can act on — today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587752" cy="1600200"/>
          </a:xfrm>
          <a:prstGeom prst="roundRect">
            <a:avLst>
              <a:gd name="adj" fmla="val 5714"/>
            </a:avLst>
          </a:prstGeom>
          <a:solidFill>
            <a:srgbClr val="3D1030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17904" y="2167128"/>
            <a:ext cx="640080" cy="640080"/>
          </a:xfrm>
          <a:prstGeom prst="ellipse">
            <a:avLst/>
          </a:prstGeom>
          <a:solidFill>
            <a:srgbClr val="5B174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924" y="232714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88036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Sep–Nov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227832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₹1,503/qtl swing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19272" y="1965960"/>
            <a:ext cx="2587752" cy="1600200"/>
          </a:xfrm>
          <a:prstGeom prst="roundRect">
            <a:avLst>
              <a:gd name="adj" fmla="val 5714"/>
            </a:avLst>
          </a:prstGeom>
          <a:solidFill>
            <a:srgbClr val="3D1030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88536" y="2167128"/>
            <a:ext cx="640080" cy="640080"/>
          </a:xfrm>
          <a:prstGeom prst="ellipse">
            <a:avLst/>
          </a:prstGeom>
          <a:solidFill>
            <a:srgbClr val="5B174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232714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10712" y="288036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Nashik belt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10712" y="3227832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₹756/qtl more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89904" y="1965960"/>
            <a:ext cx="2587752" cy="1600200"/>
          </a:xfrm>
          <a:prstGeom prst="roundRect">
            <a:avLst>
              <a:gd name="adj" fmla="val 5714"/>
            </a:avLst>
          </a:prstGeom>
          <a:solidFill>
            <a:srgbClr val="3D1030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59168" y="2167128"/>
            <a:ext cx="640080" cy="640080"/>
          </a:xfrm>
          <a:prstGeom prst="ellipse">
            <a:avLst/>
          </a:prstGeom>
          <a:solidFill>
            <a:srgbClr val="5B174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88" y="232714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81344" y="288036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Red onion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81344" y="3227832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+31% premium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860536" y="1965960"/>
            <a:ext cx="2587752" cy="1600200"/>
          </a:xfrm>
          <a:prstGeom prst="roundRect">
            <a:avLst>
              <a:gd name="adj" fmla="val 5714"/>
            </a:avLst>
          </a:prstGeom>
          <a:solidFill>
            <a:srgbClr val="3D1030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829800" y="2167128"/>
            <a:ext cx="640080" cy="640080"/>
          </a:xfrm>
          <a:prstGeom prst="ellipse">
            <a:avLst/>
          </a:prstGeom>
          <a:solidFill>
            <a:srgbClr val="5B174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9820" y="2327148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951976" y="288036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Net-profit calculator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951976" y="3227832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costs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388620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44113A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868680" y="38862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next:  </a:t>
            </a:r>
            <a:pPr indent="0" marL="0">
              <a:buNone/>
            </a:pPr>
            <a:r>
              <a:rPr lang="en-US" sz="1450" dirty="0">
                <a:solidFill>
                  <a:srgbClr val="E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IMD district rainfall — the one addition that could turn the forecaster from “ties the baseline” into a real predictive win.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548640" y="52578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MANGOS</a:t>
            </a:r>
            <a:pPr indent="0" marL="0">
              <a:buNone/>
            </a:pPr>
            <a:r>
              <a:rPr lang="en-US" sz="1300" dirty="0">
                <a:solidFill>
                  <a:srgbClr val="C9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IIT Mandi CCE — AI &amp; Data Science Capstone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10515600" y="5212080"/>
            <a:ext cx="1097280" cy="1097280"/>
          </a:xfrm>
          <a:prstGeom prst="ellipse">
            <a:avLst/>
          </a:prstGeom>
          <a:solidFill>
            <a:srgbClr val="5B1746"/>
          </a:solidFill>
          <a:ln w="19050">
            <a:solidFill>
              <a:srgbClr val="F0789C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55778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Onion Market Intelligence</dc:title>
  <dc:subject>PptxGenJS Presentation</dc:subject>
  <dc:creator>Team Mangos</dc:creator>
  <cp:lastModifiedBy>Team Mangos</cp:lastModifiedBy>
  <cp:revision>1</cp:revision>
  <dcterms:created xsi:type="dcterms:W3CDTF">2026-07-27T10:06:08Z</dcterms:created>
  <dcterms:modified xsi:type="dcterms:W3CDTF">2026-07-27T10:06:08Z</dcterms:modified>
</cp:coreProperties>
</file>