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42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420"/>
                </a:solidFill>
                <a:latin typeface="Calibri"/>
              </a:rPr>
              <a:t>Average onion price by month (₹/quintal)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State average price</c:v>
                </c:pt>
              </c:strCache>
            </c:strRef>
          </c:tx>
          <c:spPr>
            <a:solidFill>
              <a:srgbClr val="C1440E"/>
            </a:solidFill>
            <a:ln w="38100" cap="flat">
              <a:solidFill>
                <a:srgbClr val="C1440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1440E"/>
              </a:solidFill>
              <a:ln w="9525" cap="flat">
                <a:solidFill>
                  <a:srgbClr val="C1440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1726</c:v>
                </c:pt>
                <c:pt idx="1">
                  <c:v>1612</c:v>
                </c:pt>
                <c:pt idx="2">
                  <c:v>1289</c:v>
                </c:pt>
                <c:pt idx="3">
                  <c:v>1008</c:v>
                </c:pt>
                <c:pt idx="4">
                  <c:v>992</c:v>
                </c:pt>
                <c:pt idx="5">
                  <c:v>1666</c:v>
                </c:pt>
                <c:pt idx="6">
                  <c:v>1921</c:v>
                </c:pt>
                <c:pt idx="7">
                  <c:v>1231</c:v>
                </c:pt>
                <c:pt idx="8">
                  <c:v>2442</c:v>
                </c:pt>
                <c:pt idx="9">
                  <c:v>2353</c:v>
                </c:pt>
                <c:pt idx="10">
                  <c:v>2495</c:v>
                </c:pt>
                <c:pt idx="11">
                  <c:v>2123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800"/>
        </c:scaling>
        <c:delete val="0"/>
        <c:axPos val="l"/>
        <c:majorGridlines>
          <c:spPr>
            <a:ln w="12700" cap="flat">
              <a:solidFill>
                <a:srgbClr val="E7E1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42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420"/>
                </a:solidFill>
                <a:latin typeface="Calibri"/>
              </a:rPr>
              <a:t>Average price by market (₹/quintal)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5B17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14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Chh. Sambhajinagar</c:v>
                  </c:pt>
                  <c:pt idx="1">
                    <c:v>Pune(Moshi)</c:v>
                  </c:pt>
                  <c:pt idx="2">
                    <c:v>Kolhapur</c:v>
                  </c:pt>
                  <c:pt idx="3">
                    <c:v>Bhusaval</c:v>
                  </c:pt>
                  <c:pt idx="4">
                    <c:v>Mangal Wedha</c:v>
                  </c:pt>
                  <c:pt idx="5">
                    <c:v>Pune(Manjri)</c:v>
                  </c:pt>
                  <c:pt idx="6">
                    <c:v>Pune</c:v>
                  </c:pt>
                  <c:pt idx="7">
                    <c:v>Nasik</c:v>
                  </c:pt>
                  <c:pt idx="8">
                    <c:v>Satara</c:v>
                  </c:pt>
                  <c:pt idx="9">
                    <c:v>Pune(Pimpri)</c:v>
                  </c:pt>
                  <c:pt idx="10">
                    <c:v>Lasalgaon(Vinchur)</c:v>
                  </c:pt>
                  <c:pt idx="11">
                    <c:v>Lasalgaon</c:v>
                  </c:pt>
                  <c:pt idx="12">
                    <c:v>Pimpalgaon</c:v>
                  </c:pt>
                  <c:pt idx="13">
                    <c:v>Lasalgaon(Niphad)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1273</c:v>
                </c:pt>
                <c:pt idx="1">
                  <c:v>1394</c:v>
                </c:pt>
                <c:pt idx="2">
                  <c:v>1528</c:v>
                </c:pt>
                <c:pt idx="3">
                  <c:v>1582</c:v>
                </c:pt>
                <c:pt idx="4">
                  <c:v>1723</c:v>
                </c:pt>
                <c:pt idx="5">
                  <c:v>1744</c:v>
                </c:pt>
                <c:pt idx="6">
                  <c:v>1745</c:v>
                </c:pt>
                <c:pt idx="7">
                  <c:v>1768</c:v>
                </c:pt>
                <c:pt idx="8">
                  <c:v>1847</c:v>
                </c:pt>
                <c:pt idx="9">
                  <c:v>1928</c:v>
                </c:pt>
                <c:pt idx="10">
                  <c:v>1963</c:v>
                </c:pt>
                <c:pt idx="11">
                  <c:v>1993</c:v>
                </c:pt>
                <c:pt idx="12">
                  <c:v>1999</c:v>
                </c:pt>
                <c:pt idx="13">
                  <c:v>2029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B14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4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0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0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0A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Red</c:v>
                  </c:pt>
                  <c:pt idx="1">
                    <c:v>Other</c:v>
                  </c:pt>
                  <c:pt idx="2">
                    <c:v>Local</c:v>
                  </c:pt>
                  <c:pt idx="3">
                    <c:v>Unhali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2231</c:v>
                </c:pt>
                <c:pt idx="1">
                  <c:v>1711</c:v>
                </c:pt>
                <c:pt idx="2">
                  <c:v>1701</c:v>
                </c:pt>
                <c:pt idx="3">
                  <c:v>1328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4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1420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B1420"/>
                </a:solidFill>
                <a:latin typeface="Calibri"/>
              </a:rPr>
              <a:t>Forecast error — lower is better (₹/qtl)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error</c:v>
                </c:pt>
              </c:strCache>
            </c:strRef>
          </c:tx>
          <c:spPr>
            <a:solidFill>
              <a:srgbClr val="9AA0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4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0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0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0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855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Persistence</c:v>
                  </c:pt>
                  <c:pt idx="1">
                    <c:v>Seasonal-naive</c:v>
                  </c:pt>
                  <c:pt idx="2">
                    <c:v>LightGBM</c:v>
                  </c:pt>
                  <c:pt idx="3">
                    <c:v>Ensemble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169</c:v>
                </c:pt>
                <c:pt idx="1">
                  <c:v>1044</c:v>
                </c:pt>
                <c:pt idx="2">
                  <c:v>199</c:v>
                </c:pt>
                <c:pt idx="3">
                  <c:v>168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4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1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We are Team Mangos, and this is our capstone — DeHaat Mandi Price Watch. We took a simple farmer question and spent a month turning real government price data into an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pattern was always the same — a good crop, but money lost to bad timing or the wrong market. A farmer even told us: the price fell and we did not even know. That is the gap we wanted to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broke the money question into levers a farmer can actually pull — when, where, which — then added a next-month forecast and a profit calculator. And we kept ourselves honest about the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is real Agmarknet — about 32,000 records over 24 months. Real data is messy, so we cleaned it carefully and documented every decision so it can be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does the data work, SQL stores and queries it, statsmodels and LightGBM do the analysis and forecast, and we show it in a web dashboard and Power BI. One command rebuilds everything in about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steps, each feeding the next. It is built to extend — a different crop or state is a one-file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peak September to November and bottom in April–May — a ₹1,503 swing. Timing is the biggest lever, about twice the value of market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Nashik belt pays most, about ₹756 more than the cheapest market. And Red onion earns about 31% more than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forecast lands within about 14% error. Honestly, our LightGBM only ties a naive baseline, so we blend them and add a range. It cannot predict shocks, and we do not pretend otherwise.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part we are most proud of. The farmer enters location, quantity and variety; we compute distance to every mandi, subtract transport, commission and labour, and recommend the one that leaves the most money. A far high-price mandi can lose to a nearby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to be upfront about our own mistakes: a fake finding from practice data, a tonnes-versus-quintals trap, messy duplicate names, and a model that lost to a simple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every mistake we made a real fix and, where it mattered, a test so it cannot come back. Catching our own errors is part of the work we are proud 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clear about what we cannot claim: only two years of data with a missing month, no weather or policy signals, a monthly horizon, and calculator costs that are adjustable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wrap up: sell September to November, prefer the Nashik belt, grow Red onion, and use the calculator to net out transport. Scaled to a thousand farmers, that is crores kept in farmers pockets. Thank you so much — we are Team Mangos, and we would love your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377440"/>
            <a:ext cx="5486400" cy="5486400"/>
          </a:xfrm>
          <a:prstGeom prst="ellipse">
            <a:avLst/>
          </a:prstGeom>
          <a:solidFill>
            <a:srgbClr val="5B174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206240"/>
            <a:ext cx="5029200" cy="5029200"/>
          </a:xfrm>
          <a:prstGeom prst="ellipse">
            <a:avLst/>
          </a:prstGeom>
          <a:solidFill>
            <a:srgbClr val="3D1030"/>
          </a:solidFill>
          <a:ln/>
        </p:spPr>
      </p:sp>
      <p:sp>
        <p:nvSpPr>
          <p:cNvPr id="4" name="Shape 2"/>
          <p:cNvSpPr/>
          <p:nvPr/>
        </p:nvSpPr>
        <p:spPr>
          <a:xfrm>
            <a:off x="5358384" y="685800"/>
            <a:ext cx="1463040" cy="1463040"/>
          </a:xfrm>
          <a:prstGeom prst="ellipse">
            <a:avLst/>
          </a:prstGeom>
          <a:solidFill>
            <a:srgbClr val="5B1746"/>
          </a:solidFill>
          <a:ln w="25400">
            <a:solidFill>
              <a:srgbClr val="F0789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5584" y="11430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4688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DeHaat Mandi Price Watch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371600" y="33375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Market Intelligence  —  helping Maharashtra’s farmers sell smarter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691640" y="4114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4113A"/>
          </a:solidFill>
          <a:ln w="9525">
            <a:solidFill>
              <a:srgbClr val="F0789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91640" y="4114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20440" y="4114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4113A"/>
          </a:solidFill>
          <a:ln w="9525">
            <a:solidFill>
              <a:srgbClr val="F078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4114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49240" y="4114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4113A"/>
          </a:solidFill>
          <a:ln w="9525">
            <a:solidFill>
              <a:srgbClr val="F078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9240" y="4114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178040" y="4114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4113A"/>
          </a:solidFill>
          <a:ln w="9525">
            <a:solidFill>
              <a:srgbClr val="F0789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78040" y="4114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006840" y="4114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4113A"/>
          </a:solidFill>
          <a:ln w="9525">
            <a:solidFill>
              <a:srgbClr val="F0789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4114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Calculator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TEAM MANGOS</a:t>
            </a:r>
            <a:pPr algn="ctr" indent="0" marL="0">
              <a:buNone/>
            </a:pPr>
            <a:r>
              <a:rPr lang="en-US" sz="1200" dirty="0">
                <a:solidFill>
                  <a:srgbClr val="C9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IIT Mandi CCE — AI &amp; Data Science Capstone (Project #5)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PICKED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good harvest can still lose money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looked into onion farming, the same story kept coming up: a farmer grows a fine crop, then loses a big chunk of the income simply by selling at the wrong time, in the wrong mandi, or with the wrong variety. Onion is one of India’s most price-volatile crops.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926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2.5×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can swing in one year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42816" y="26517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71416" y="2926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1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₹1,000 → ₹2,500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71416" y="3611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onion, a few months apart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36992" y="26517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65592" y="2926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9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Mostly guesswork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165592" y="3611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sell decision is made today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FBEEE7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892040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0200" y="452628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i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“Bhaav gir gaya, aur humein pata hi nahi chala.”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the price fell, and we didn’t even know. This is the gap we set out to close.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tool, five money answers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37944"/>
            <a:ext cx="658368" cy="65836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025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282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sell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45920" y="209397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months — worth ₹1,503/quintal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9904" y="150876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45936" y="1837944"/>
            <a:ext cx="658368" cy="65836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0025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87184" y="17282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sell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87184" y="209397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mandi — up to ₹756/quintal more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990088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19272"/>
            <a:ext cx="658368" cy="65836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48386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2095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variety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45920" y="357530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onion earns about 31% more than Local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9904" y="2990088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45936" y="3319272"/>
            <a:ext cx="658368" cy="65836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48386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87184" y="32095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MONTH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87184" y="357530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per-market price forecast, with a range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471416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800600"/>
            <a:ext cx="658368" cy="65836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96519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6908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CALCULATOR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645920" y="505663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mandi after transport, commission &amp; labour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089904" y="4471416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45936" y="4800600"/>
            <a:ext cx="658368" cy="65836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96519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87184" y="46908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STAY HONEST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187184" y="505663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where our model is weak, not only strong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WE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government data, cleaned by hand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877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105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31,930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records we cleaned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9272" y="1554480"/>
            <a:ext cx="25877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56432" y="18105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1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 → 14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56432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loaded → curated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9904" y="1554480"/>
            <a:ext cx="25877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27064" y="18105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27064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(Jun ’24–Jun ’26)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60536" y="1554480"/>
            <a:ext cx="25877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97696" y="18105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9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97696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varieties tracked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548640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comes from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(Govt. of India) — 25 monthly “Date-Wise Prices” exports for Onion in Maharashtra. We use the modal price (₹/quintal) and convert arrivals from tonnes to quintals.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53912" y="3291840"/>
            <a:ext cx="5486400" cy="2697480"/>
          </a:xfrm>
          <a:prstGeom prst="roundRect">
            <a:avLst>
              <a:gd name="adj" fmla="val 3390"/>
            </a:avLst>
          </a:prstGeom>
          <a:solidFill>
            <a:srgbClr val="FBEEE7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messy — so we fixed it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3950208"/>
            <a:ext cx="164592" cy="16459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720840" y="389534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names sat in header rows, not a column</a:t>
            </a:r>
            <a:endParaRPr lang="en-US" sz="12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4407408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720840" y="435254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in tonnes, prices per quintal (a 10× trap)</a:t>
            </a:r>
            <a:endParaRPr lang="en-US" sz="12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864608"/>
            <a:ext cx="164592" cy="16459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20840" y="480974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had been downloaded twice</a:t>
            </a:r>
            <a:endParaRPr lang="en-US" sz="12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5321808"/>
            <a:ext cx="164592" cy="1645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20840" y="526694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2024 is missing from the source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wrote down every cleaning decision in a data-quality note and reconciliation log, so anyone can re-check our work.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behind the project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965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6138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236829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all the data work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9272" y="160020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81965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196138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87952" y="17830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20440" y="236829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reshape &amp; compute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9904" y="160020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181965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04" y="196138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58584" y="17830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SQL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91072" y="236829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data, ask it questions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60536" y="160020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61704" y="181965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436" y="196138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29216" y="17830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061704" y="236829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&amp; market effects in ₹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06324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28269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342442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32461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sklearn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49808" y="383133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forecaster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19272" y="306324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20440" y="328269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2172" y="342442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187952" y="32461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· Web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520440" y="383133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interactive dashboard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089904" y="306324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91072" y="328269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2804" y="3424428"/>
            <a:ext cx="283464" cy="28346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958584" y="32461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291072" y="383133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BI dashboard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860536" y="3063240"/>
            <a:ext cx="258775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061704" y="3282696"/>
            <a:ext cx="566928" cy="566928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424428"/>
            <a:ext cx="283464" cy="28346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729216" y="32461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Git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9061704" y="383133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tests · version control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548640" y="452628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2E0B24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45" name="Text 35"/>
          <p:cNvSpPr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 runs with one command.  </a:t>
            </a:r>
            <a:pPr indent="0" marL="0">
              <a:buNone/>
            </a:pPr>
            <a:r>
              <a:rPr lang="en-US" sz="1500" dirty="0">
                <a:solidFill>
                  <a:srgbClr val="E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files to finished dashboard in about 20 seconds — so we can rebuild everything from scratch, any time.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files to farmer advice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73352" cy="22860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52144" y="2322576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/>
          <p:nvPr/>
        </p:nvSpPr>
        <p:spPr>
          <a:xfrm>
            <a:off x="1152144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9443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83280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712464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files → one clean table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176272" y="2971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04872" y="2103120"/>
            <a:ext cx="1673352" cy="22860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08376" y="2322576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3" name="Text 10"/>
          <p:cNvSpPr/>
          <p:nvPr/>
        </p:nvSpPr>
        <p:spPr>
          <a:xfrm>
            <a:off x="3008376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294436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96312" y="3383280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496312" y="3712464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· gaps · units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032504" y="2971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261104" y="2103120"/>
            <a:ext cx="1673352" cy="22860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64608" y="2322576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0" name="Text 16"/>
          <p:cNvSpPr/>
          <p:nvPr/>
        </p:nvSpPr>
        <p:spPr>
          <a:xfrm>
            <a:off x="4864608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944368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52544" y="3383280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352544" y="3712464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charts, one claim each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5888736" y="2971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6117336" y="2103120"/>
            <a:ext cx="1673352" cy="22860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20840" y="2322576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7" name="Text 22"/>
          <p:cNvSpPr/>
          <p:nvPr/>
        </p:nvSpPr>
        <p:spPr>
          <a:xfrm>
            <a:off x="6720840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944368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08776" y="3383280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208776" y="3712464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&amp; market effects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7744968" y="2971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7973568" y="2103120"/>
            <a:ext cx="1673352" cy="22860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577072" y="2322576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34" name="Text 28"/>
          <p:cNvSpPr/>
          <p:nvPr/>
        </p:nvSpPr>
        <p:spPr>
          <a:xfrm>
            <a:off x="8577072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2944368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065008" y="3383280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8065008" y="3712464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persistence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9601200" y="2971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2"/>
          <p:cNvSpPr/>
          <p:nvPr/>
        </p:nvSpPr>
        <p:spPr>
          <a:xfrm>
            <a:off x="9829800" y="2103120"/>
            <a:ext cx="1673352" cy="22860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0433304" y="2322576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1" name="Text 34"/>
          <p:cNvSpPr/>
          <p:nvPr/>
        </p:nvSpPr>
        <p:spPr>
          <a:xfrm>
            <a:off x="10433304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4744" y="2944368"/>
            <a:ext cx="292608" cy="29260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21240" y="3383280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9921240" y="3712464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+ calculator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548640" y="47548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0F5F2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868680" y="475488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extend:  </a:t>
            </a:r>
            <a:pPr indent="0" marL="0">
              <a:buNone/>
            </a:pPr>
            <a:r>
              <a:rPr lang="en-US" sz="14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 different crop, state, or set of markets? We change one settings file — nothing is hardcoded anywhere else.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WHEN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September–November, not April–May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5087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2E0B24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75320" y="1783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9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₹1,503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75320" y="25603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quintal — the gap between the November peak (₹2,495) and the May low (₹992).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92440" y="384048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BEEE7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7532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75320" y="438912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is the single biggest lever a farmer has — about twice as valuable as market choice. The peak is real, not luck: November is +₹759 vs January in our model, and statistically significant.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2 &amp; 3 — WHERE &amp; WHICH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Nashik belt pays most · Red earns a premium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03504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variety pays best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766560" y="1874520"/>
          <a:ext cx="48920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766560" y="4526280"/>
            <a:ext cx="4873752" cy="1554480"/>
          </a:xfrm>
          <a:prstGeom prst="roundRect">
            <a:avLst>
              <a:gd name="adj" fmla="val 5882"/>
            </a:avLst>
          </a:prstGeom>
          <a:solidFill>
            <a:srgbClr val="FBEEE7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040880" y="452628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onion ≈ +31% over Local.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crop-planning lever worth about ₹530/quintal — on top of when and where.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— NEXT MONTH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next-month forecast — and we’re honest about it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7607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55448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2E0B24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6656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· best market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66560" y="2057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Pimpalgaon Baswant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766560" y="2606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₹1,788/quintal   (range ₹1,555–1,884)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37960" y="365760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FBEEE7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0" y="3840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part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66560" y="420624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ML model only ties a simple “next month ≈ this month” guess — onion prices are close to a random walk. Its real value is the ± range it gives, and it cannot see a supply shock coming. We say so plainly.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WE’RE PROUD 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Calculator — highest price ≠ highest profit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2E0B24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 =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× qty  </a:t>
            </a:r>
            <a:pPr indent="0" marL="0">
              <a:buNone/>
            </a:pPr>
            <a:r>
              <a:rPr lang="en-US" sz="1700" dirty="0">
                <a:solidFill>
                  <a:srgbClr val="E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transport (distance × rate)  −  commission  −  labour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27048" y="3200400"/>
            <a:ext cx="640080" cy="640080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33604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886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enters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" y="4206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quantity &amp; variety (costs optional)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090672" y="34747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19272" y="297180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3200400"/>
            <a:ext cx="640080" cy="640080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33604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56432" y="3886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find distances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83864" y="4206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all 14 mandi locations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861304" y="34747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089904" y="297180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68312" y="3200400"/>
            <a:ext cx="640080" cy="640080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332" y="33604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27064" y="3886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net every mandi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54496" y="4206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 transport, commission &amp; labour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631936" y="34747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8860536" y="297180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838944" y="3200400"/>
            <a:ext cx="640080" cy="640080"/>
          </a:xfrm>
          <a:prstGeom prst="ellipse">
            <a:avLst/>
          </a:prstGeom>
          <a:solidFill>
            <a:srgbClr val="F3E3DD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8964" y="336042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997696" y="3886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 one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025128" y="4206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mandi that leaves the most money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0F5F2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868680" y="498348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— </a:t>
            </a:r>
            <a:pPr indent="0" marL="0">
              <a:buNone/>
            </a:pPr>
            <a:r>
              <a:rPr lang="en-US" sz="13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Nashik farmer with 50 quintals of Red onion → </a:t>
            </a:r>
            <a:pPr indent="0" marL="0">
              <a:buNone/>
            </a:pPr>
            <a:r>
              <a:rPr lang="en-US" sz="13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at Pimpalgaon, about ₹1.05 lakh take-home</a:t>
            </a:r>
            <a:pPr indent="0" marL="0">
              <a:buNone/>
            </a:pPr>
            <a:r>
              <a:rPr lang="en-US" sz="1350" dirty="0">
                <a:solidFill>
                  <a:srgbClr val="1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nearby high-price mandi beats a far one once transport is counted.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GOT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slipped up — and owned 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658368" cy="658368"/>
          </a:xfrm>
          <a:prstGeom prst="ellipse">
            <a:avLst/>
          </a:prstGeom>
          <a:solidFill>
            <a:srgbClr val="F7E0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933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“big finding” that was fake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practice data we found a dramatic pattern. On the REAL data it vanished (correlation ≈ −0.03). We almost believed 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9904" y="155448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45936" y="1828800"/>
            <a:ext cx="658368" cy="658368"/>
          </a:xfrm>
          <a:prstGeom prst="ellipse">
            <a:avLst/>
          </a:prstGeom>
          <a:solidFill>
            <a:srgbClr val="F7E0D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9933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87184" y="18288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units trap — off by 10×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64224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came in tonnes, but every price is per quintal. Mixing them would have inflated our numbers tenfold.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69080"/>
            <a:ext cx="658368" cy="658368"/>
          </a:xfrm>
          <a:prstGeom prst="ellipse">
            <a:avLst/>
          </a:prstGeom>
          <a:solidFill>
            <a:srgbClr val="F7E0D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23367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69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splitting in two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846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sat in headers with different spellings, and one month had been downloaded twice.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9904" y="37947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45936" y="4069080"/>
            <a:ext cx="658368" cy="658368"/>
          </a:xfrm>
          <a:prstGeom prst="ellipse">
            <a:avLst/>
          </a:prstGeom>
          <a:solidFill>
            <a:srgbClr val="F7E0D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23367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87184" y="4069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ML lost to a “dumb” guess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64224" y="4846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LightGBM forecaster was actually beaten by a plain “next = this month” rule.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FIXED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corrected every one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658368" cy="658368"/>
          </a:xfrm>
          <a:prstGeom prst="ellipse">
            <a:avLst/>
          </a:prstGeom>
          <a:solidFill>
            <a:srgbClr val="DCEFE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933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reported the truth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on real data and told the real story — timing, market and variety, the effects that actually hold up.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9904" y="155448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45936" y="1828800"/>
            <a:ext cx="658368" cy="658368"/>
          </a:xfrm>
          <a:prstGeom prst="ellipse">
            <a:avLst/>
          </a:prstGeom>
          <a:solidFill>
            <a:srgbClr val="DCEFE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9933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87184" y="18288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fixed units at the source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64224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are converted tonnes→quintals once, at the start, with a test that locks it in.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69080"/>
            <a:ext cx="658368" cy="658368"/>
          </a:xfrm>
          <a:prstGeom prst="ellipse">
            <a:avLst/>
          </a:prstGeom>
          <a:solidFill>
            <a:srgbClr val="DCEF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23367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69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cleaned the names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846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every market name, removed exact duplicates, and gave each market a stable ID.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9904" y="37947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45936" y="4069080"/>
            <a:ext cx="658368" cy="658368"/>
          </a:xfrm>
          <a:prstGeom prst="ellipse">
            <a:avLst/>
          </a:prstGeom>
          <a:solidFill>
            <a:srgbClr val="DCEFE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23367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87184" y="4069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re-engineered the model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64224" y="4846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the month-to-month change and blended it with the simple rule — now it matches the baseline and adds a range.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is written down in our reconciliation log — with a test where it matters, so the same mistake can’t sneak back in.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CAN’T CLAIM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limitations, stated up front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9928"/>
            <a:ext cx="640080" cy="640080"/>
          </a:xfrm>
          <a:prstGeom prst="ellipse">
            <a:avLst/>
          </a:prstGeom>
          <a:solidFill>
            <a:srgbClr val="EDE7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6994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0876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24 months of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0" y="150876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 is seen about twice, and August 2024 is missing — so the seasonal peak rests on few observations.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79192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880360"/>
            <a:ext cx="640080" cy="640080"/>
          </a:xfrm>
          <a:prstGeom prst="ellipse">
            <a:avLst/>
          </a:prstGeom>
          <a:solidFill>
            <a:srgbClr val="EDE7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0403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679192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weather or policy data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2679192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triggers of price shocks aren’t in our dataset, so no model here can see a spike coming.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49624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50792"/>
            <a:ext cx="640080" cy="640080"/>
          </a:xfrm>
          <a:prstGeom prst="ellipse">
            <a:avLst/>
          </a:prstGeom>
          <a:solidFill>
            <a:srgbClr val="EDE7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21081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49624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forecast horizon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029200" y="3849624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answer “next month, per market” — not next week, and not during an active price shock.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020056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221224"/>
            <a:ext cx="640080" cy="640080"/>
          </a:xfrm>
          <a:prstGeom prst="ellipse">
            <a:avLst/>
          </a:prstGeom>
          <a:solidFill>
            <a:srgbClr val="EDE7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38124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020056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calculator uses estimates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029200" y="5020056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Transport, commission and labour are values the farmer can adjust — a net estimate, not a promise.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377440"/>
            <a:ext cx="5486400" cy="5486400"/>
          </a:xfrm>
          <a:prstGeom prst="ellipse">
            <a:avLst/>
          </a:prstGeom>
          <a:solidFill>
            <a:srgbClr val="5B174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206240"/>
            <a:ext cx="5029200" cy="5029200"/>
          </a:xfrm>
          <a:prstGeom prst="ellipse">
            <a:avLst/>
          </a:prstGeom>
          <a:solidFill>
            <a:srgbClr val="3D10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farmer can do with this — today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87752" cy="1371600"/>
          </a:xfrm>
          <a:prstGeom prst="roundRect">
            <a:avLst>
              <a:gd name="adj" fmla="val 6667"/>
            </a:avLst>
          </a:prstGeom>
          <a:solidFill>
            <a:srgbClr val="3D1030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17904" y="1920240"/>
            <a:ext cx="566928" cy="566928"/>
          </a:xfrm>
          <a:prstGeom prst="ellipse">
            <a:avLst/>
          </a:prstGeom>
          <a:solidFill>
            <a:srgbClr val="5B174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" y="2061972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54203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Sep–Nov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2834640"/>
            <a:ext cx="2404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₹1,503/qtl swing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19272" y="1737360"/>
            <a:ext cx="2587752" cy="1371600"/>
          </a:xfrm>
          <a:prstGeom prst="roundRect">
            <a:avLst>
              <a:gd name="adj" fmla="val 6667"/>
            </a:avLst>
          </a:prstGeom>
          <a:solidFill>
            <a:srgbClr val="3D1030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88536" y="1920240"/>
            <a:ext cx="566928" cy="566928"/>
          </a:xfrm>
          <a:prstGeom prst="ellipse">
            <a:avLst/>
          </a:prstGeom>
          <a:solidFill>
            <a:srgbClr val="5B174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268" y="206197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0712" y="254203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Nashik belt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10712" y="2834640"/>
            <a:ext cx="2404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₹756/qtl more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9904" y="1737360"/>
            <a:ext cx="2587752" cy="1371600"/>
          </a:xfrm>
          <a:prstGeom prst="roundRect">
            <a:avLst>
              <a:gd name="adj" fmla="val 6667"/>
            </a:avLst>
          </a:prstGeom>
          <a:solidFill>
            <a:srgbClr val="3D1030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59168" y="1920240"/>
            <a:ext cx="566928" cy="566928"/>
          </a:xfrm>
          <a:prstGeom prst="ellipse">
            <a:avLst/>
          </a:prstGeom>
          <a:solidFill>
            <a:srgbClr val="5B174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206197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81344" y="254203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Red onion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181344" y="2834640"/>
            <a:ext cx="2404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+31% premium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860536" y="1737360"/>
            <a:ext cx="2587752" cy="1371600"/>
          </a:xfrm>
          <a:prstGeom prst="roundRect">
            <a:avLst>
              <a:gd name="adj" fmla="val 6667"/>
            </a:avLst>
          </a:prstGeom>
          <a:solidFill>
            <a:srgbClr val="3D1030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829800" y="1920240"/>
            <a:ext cx="566928" cy="566928"/>
          </a:xfrm>
          <a:prstGeom prst="ellipse">
            <a:avLst/>
          </a:prstGeom>
          <a:solidFill>
            <a:srgbClr val="5B174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1532" y="20619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51976" y="254203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calculator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8951976" y="2834640"/>
            <a:ext cx="2404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mandi, net of cost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329184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44113A"/>
          </a:solidFill>
          <a:ln w="12700">
            <a:solidFill>
              <a:srgbClr val="E7E1DC"/>
            </a:solidFill>
            <a:prstDash val="solid"/>
          </a:ln>
          <a:effectLst>
            <a:outerShdw sx="100000" sy="100000" kx="0" ky="0" algn="bl" rotWithShape="0" blurRad="114300" dist="38100" dir="5400000">
              <a:srgbClr val="2E0B24">
                <a:alpha val="16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868680" y="32918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picture:  </a:t>
            </a:r>
            <a:pPr indent="0" marL="0">
              <a:buNone/>
            </a:pPr>
            <a:r>
              <a:rPr lang="en-US" sz="1400" dirty="0">
                <a:solidFill>
                  <a:srgbClr val="E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just 1,000 farmers captured even part of this timing gain on 50 quintals each, that’s roughly ₹2.5 crore kept in farmers’ pockets in a single season.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48640" y="4617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29" name="Text 23"/>
          <p:cNvSpPr/>
          <p:nvPr/>
        </p:nvSpPr>
        <p:spPr>
          <a:xfrm>
            <a:off x="548640" y="5349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loved building this — questions and feedback are very welcome.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MANGOS</a:t>
            </a:r>
            <a:pPr indent="0" marL="0">
              <a:buNone/>
            </a:pPr>
            <a:r>
              <a:rPr lang="en-US" sz="1300" dirty="0">
                <a:solidFill>
                  <a:srgbClr val="C9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IIT Mandi CCE — AI &amp; Data Science Capstone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10515600" y="4892040"/>
            <a:ext cx="1097280" cy="1097280"/>
          </a:xfrm>
          <a:prstGeom prst="ellipse">
            <a:avLst/>
          </a:prstGeom>
          <a:solidFill>
            <a:srgbClr val="5B1746"/>
          </a:solidFill>
          <a:ln w="19050">
            <a:solidFill>
              <a:srgbClr val="F0789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5257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DeHaat Mandi Price Watch</dc:title>
  <dc:subject>PptxGenJS Presentation</dc:subject>
  <dc:creator>Team Mangos</dc:creator>
  <cp:lastModifiedBy>Team Mangos</cp:lastModifiedBy>
  <cp:revision>1</cp:revision>
  <dcterms:created xsi:type="dcterms:W3CDTF">2026-07-27T10:14:56Z</dcterms:created>
  <dcterms:modified xsi:type="dcterms:W3CDTF">2026-07-27T10:14:56Z</dcterms:modified>
</cp:coreProperties>
</file>